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 cold on the name — don't over-explain the title. One breath, then move to 'what is MCCF' before anyone asks.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elevator pitch slide. Land the single sentence, then let the four cards be the map for the rest of the deck — you'll come back to each of these.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system's heartbeat. Emphasize 'live, every step' on couplers — that's the part people assume is scripted and isn't.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List reads fast — don't linger on each shot name. The line to land is the italic one: this is built and confirmed, not aspirational.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Two ideas on this slide, don't rush past either: (1) protos as composability — the maintainability win. (2) protos as the seam between the emotional engine and the render layer — the deeper architectural point.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four-letter cards are the hook. The card below is the actual payoff — say it slowly, it's the least obvious and most important idea in the deck.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If asked 'which one plays' — the default-to-TTS line answers it. Don't get pulled into voice-casting detail here unless asked; that's a deeper rabbit hole than this slide needs.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slide exists to build trust, not to impress with numbers. If the audience is technical, this is the slide that lands hardest.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Pause before and after this slide. It's the emotional center of the deck, not a transition — don't rush into the roadmap.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the slides here and switch to the live scene. Don't add a 'questions?' slide after this — end on momentum, take questions during/after the demo instead.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624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1005840"/>
            <a:ext cx="82296" cy="82296"/>
          </a:xfrm>
          <a:prstGeom prst="ellipse">
            <a:avLst/>
          </a:prstGeom>
          <a:solidFill>
            <a:srgbClr val="6B8F71"/>
          </a:solidFill>
          <a:ln/>
        </p:spPr>
      </p:sp>
      <p:sp>
        <p:nvSpPr>
          <p:cNvPr id="3" name="Shape 1"/>
          <p:cNvSpPr/>
          <p:nvPr/>
        </p:nvSpPr>
        <p:spPr>
          <a:xfrm>
            <a:off x="10607040" y="1463040"/>
            <a:ext cx="82296" cy="82296"/>
          </a:xfrm>
          <a:prstGeom prst="ellipse">
            <a:avLst/>
          </a:prstGeom>
          <a:solidFill>
            <a:srgbClr val="6B8F71"/>
          </a:solidFill>
          <a:ln/>
        </p:spPr>
      </p:sp>
      <p:sp>
        <p:nvSpPr>
          <p:cNvPr id="4" name="Shape 2"/>
          <p:cNvSpPr/>
          <p:nvPr/>
        </p:nvSpPr>
        <p:spPr>
          <a:xfrm>
            <a:off x="9966960" y="2011680"/>
            <a:ext cx="82296" cy="82296"/>
          </a:xfrm>
          <a:prstGeom prst="ellipse">
            <a:avLst/>
          </a:prstGeom>
          <a:solidFill>
            <a:srgbClr val="6B8F71"/>
          </a:solidFill>
          <a:ln/>
        </p:spPr>
      </p:sp>
      <p:sp>
        <p:nvSpPr>
          <p:cNvPr id="5" name="Shape 3"/>
          <p:cNvSpPr/>
          <p:nvPr/>
        </p:nvSpPr>
        <p:spPr>
          <a:xfrm>
            <a:off x="11064240" y="2194560"/>
            <a:ext cx="82296" cy="82296"/>
          </a:xfrm>
          <a:prstGeom prst="ellipse">
            <a:avLst/>
          </a:prstGeom>
          <a:solidFill>
            <a:srgbClr val="6B8F71"/>
          </a:solidFill>
          <a:ln/>
        </p:spPr>
      </p:sp>
      <p:sp>
        <p:nvSpPr>
          <p:cNvPr id="6" name="Shape 4"/>
          <p:cNvSpPr/>
          <p:nvPr/>
        </p:nvSpPr>
        <p:spPr>
          <a:xfrm>
            <a:off x="10424160" y="822960"/>
            <a:ext cx="82296" cy="82296"/>
          </a:xfrm>
          <a:prstGeom prst="ellipse">
            <a:avLst/>
          </a:prstGeom>
          <a:solidFill>
            <a:srgbClr val="6B8F71"/>
          </a:solidFill>
          <a:ln/>
        </p:spPr>
      </p:sp>
      <p:sp>
        <p:nvSpPr>
          <p:cNvPr id="7" name="Shape 5"/>
          <p:cNvSpPr/>
          <p:nvPr/>
        </p:nvSpPr>
        <p:spPr>
          <a:xfrm>
            <a:off x="9733788" y="1046988"/>
            <a:ext cx="914400" cy="457200"/>
          </a:xfrm>
          <a:prstGeom prst="line">
            <a:avLst/>
          </a:prstGeom>
          <a:noFill/>
          <a:ln w="12700">
            <a:solidFill>
              <a:srgbClr val="3F5A4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648188" y="1504188"/>
            <a:ext cx="-640080" cy="548640"/>
          </a:xfrm>
          <a:prstGeom prst="line">
            <a:avLst/>
          </a:prstGeom>
          <a:noFill/>
          <a:ln w="12700">
            <a:solidFill>
              <a:srgbClr val="3F5A4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733788" y="1046988"/>
            <a:ext cx="1371600" cy="1188720"/>
          </a:xfrm>
          <a:prstGeom prst="line">
            <a:avLst/>
          </a:prstGeom>
          <a:noFill/>
          <a:ln w="12700">
            <a:solidFill>
              <a:srgbClr val="3F5A4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22960" y="2331720"/>
            <a:ext cx="8229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F1EDE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MCCF</a:t>
            </a:r>
            <a:endParaRPr lang="en-US" sz="6000" dirty="0"/>
          </a:p>
        </p:txBody>
      </p:sp>
      <p:sp>
        <p:nvSpPr>
          <p:cNvPr id="11" name="Text 9"/>
          <p:cNvSpPr/>
          <p:nvPr/>
        </p:nvSpPr>
        <p:spPr>
          <a:xfrm>
            <a:off x="868680" y="34290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E3A9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3D storytelling, tuned for coherence.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868680" y="59436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AB8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Zoom demo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624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149840" y="640080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AB8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MCCF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AAB8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40080" y="5029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1EDE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MCCF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640080" y="1280160"/>
            <a:ext cx="7863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AAB8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live 3D stage where characters move, speak, and feel — driven by the same engine that scores the story.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40080" y="2514600"/>
            <a:ext cx="2514600" cy="3017520"/>
          </a:xfrm>
          <a:prstGeom prst="roundRect">
            <a:avLst>
              <a:gd name="adj" fmla="val 4364"/>
            </a:avLst>
          </a:prstGeom>
          <a:solidFill>
            <a:srgbClr val="1F3226"/>
          </a:solidFill>
          <a:ln/>
          <a:effectLst>
            <a:outerShdw sx="100000" sy="100000" kx="0" ky="0" algn="bl" rotWithShape="0" blurRad="101600" dist="38100" dir="5400000">
              <a:srgbClr val="000000">
                <a:alpha val="2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1485900" y="2834640"/>
            <a:ext cx="822960" cy="822960"/>
          </a:xfrm>
          <a:prstGeom prst="ellipse">
            <a:avLst/>
          </a:prstGeom>
          <a:solidFill>
            <a:srgbClr val="3F5A46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92885" y="2941625"/>
            <a:ext cx="608990" cy="60899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822960" y="3840480"/>
            <a:ext cx="2148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1EDE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Agents</a:t>
            </a:r>
            <a:endParaRPr lang="en-US" sz="1700" dirty="0"/>
          </a:p>
        </p:txBody>
      </p:sp>
      <p:sp>
        <p:nvSpPr>
          <p:cNvPr id="10" name="Text 7"/>
          <p:cNvSpPr/>
          <p:nvPr/>
        </p:nvSpPr>
        <p:spPr>
          <a:xfrm>
            <a:off x="822960" y="4297680"/>
            <a:ext cx="21488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AAB8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Characters with real emotional state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3410712" y="2514600"/>
            <a:ext cx="2514600" cy="3017520"/>
          </a:xfrm>
          <a:prstGeom prst="roundRect">
            <a:avLst>
              <a:gd name="adj" fmla="val 4364"/>
            </a:avLst>
          </a:prstGeom>
          <a:solidFill>
            <a:srgbClr val="1F3226"/>
          </a:solidFill>
          <a:ln/>
          <a:effectLst>
            <a:outerShdw sx="100000" sy="100000" kx="0" ky="0" algn="bl" rotWithShape="0" blurRad="101600" dist="38100" dir="5400000">
              <a:srgbClr val="000000">
                <a:alpha val="28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256532" y="2834640"/>
            <a:ext cx="822960" cy="822960"/>
          </a:xfrm>
          <a:prstGeom prst="ellipse">
            <a:avLst/>
          </a:prstGeom>
          <a:solidFill>
            <a:srgbClr val="3F5A46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63517" y="2941625"/>
            <a:ext cx="608990" cy="60899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3593592" y="3840480"/>
            <a:ext cx="2148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1EDE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Camera</a:t>
            </a:r>
            <a:endParaRPr lang="en-US" sz="1700" dirty="0"/>
          </a:p>
        </p:txBody>
      </p:sp>
      <p:sp>
        <p:nvSpPr>
          <p:cNvPr id="15" name="Text 11"/>
          <p:cNvSpPr/>
          <p:nvPr/>
        </p:nvSpPr>
        <p:spPr>
          <a:xfrm>
            <a:off x="3593592" y="4297680"/>
            <a:ext cx="21488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AAB8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Cinematography that follows the story</a:t>
            </a:r>
            <a:endParaRPr lang="en-US" sz="1250" dirty="0"/>
          </a:p>
        </p:txBody>
      </p:sp>
      <p:sp>
        <p:nvSpPr>
          <p:cNvPr id="16" name="Shape 12"/>
          <p:cNvSpPr/>
          <p:nvPr/>
        </p:nvSpPr>
        <p:spPr>
          <a:xfrm>
            <a:off x="6181344" y="2514600"/>
            <a:ext cx="2514600" cy="3017520"/>
          </a:xfrm>
          <a:prstGeom prst="roundRect">
            <a:avLst>
              <a:gd name="adj" fmla="val 4364"/>
            </a:avLst>
          </a:prstGeom>
          <a:solidFill>
            <a:srgbClr val="1F3226"/>
          </a:solidFill>
          <a:ln/>
          <a:effectLst>
            <a:outerShdw sx="100000" sy="100000" kx="0" ky="0" algn="bl" rotWithShape="0" blurRad="101600" dist="38100" dir="5400000">
              <a:srgbClr val="000000">
                <a:alpha val="28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7027164" y="2834640"/>
            <a:ext cx="822960" cy="822960"/>
          </a:xfrm>
          <a:prstGeom prst="ellipse">
            <a:avLst/>
          </a:prstGeom>
          <a:solidFill>
            <a:srgbClr val="3F5A46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34149" y="2941625"/>
            <a:ext cx="608990" cy="60899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6364224" y="3840480"/>
            <a:ext cx="2148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1EDE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Zones</a:t>
            </a:r>
            <a:endParaRPr lang="en-US" sz="1700" dirty="0"/>
          </a:p>
        </p:txBody>
      </p:sp>
      <p:sp>
        <p:nvSpPr>
          <p:cNvPr id="20" name="Text 15"/>
          <p:cNvSpPr/>
          <p:nvPr/>
        </p:nvSpPr>
        <p:spPr>
          <a:xfrm>
            <a:off x="6364224" y="4297680"/>
            <a:ext cx="21488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AAB8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Places with their own emotional pull</a:t>
            </a:r>
            <a:endParaRPr lang="en-US" sz="1250" dirty="0"/>
          </a:p>
        </p:txBody>
      </p:sp>
      <p:sp>
        <p:nvSpPr>
          <p:cNvPr id="21" name="Shape 16"/>
          <p:cNvSpPr/>
          <p:nvPr/>
        </p:nvSpPr>
        <p:spPr>
          <a:xfrm>
            <a:off x="8951976" y="2514600"/>
            <a:ext cx="2514600" cy="3017520"/>
          </a:xfrm>
          <a:prstGeom prst="roundRect">
            <a:avLst>
              <a:gd name="adj" fmla="val 4364"/>
            </a:avLst>
          </a:prstGeom>
          <a:solidFill>
            <a:srgbClr val="1F3226"/>
          </a:solidFill>
          <a:ln/>
          <a:effectLst>
            <a:outerShdw sx="100000" sy="100000" kx="0" ky="0" algn="bl" rotWithShape="0" blurRad="101600" dist="38100" dir="5400000">
              <a:srgbClr val="000000">
                <a:alpha val="28000"/>
              </a:srgbClr>
            </a:outerShdw>
          </a:effectLst>
        </p:spPr>
      </p:sp>
      <p:sp>
        <p:nvSpPr>
          <p:cNvPr id="22" name="Shape 17"/>
          <p:cNvSpPr/>
          <p:nvPr/>
        </p:nvSpPr>
        <p:spPr>
          <a:xfrm>
            <a:off x="9797796" y="2834640"/>
            <a:ext cx="822960" cy="822960"/>
          </a:xfrm>
          <a:prstGeom prst="ellipse">
            <a:avLst/>
          </a:prstGeom>
          <a:solidFill>
            <a:srgbClr val="3F5A46"/>
          </a:solidFill>
          <a:ln/>
        </p:spPr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04781" y="2941625"/>
            <a:ext cx="608990" cy="608990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9134856" y="3840480"/>
            <a:ext cx="2148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1EDE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Dialog</a:t>
            </a:r>
            <a:endParaRPr lang="en-US" sz="1700" dirty="0"/>
          </a:p>
        </p:txBody>
      </p:sp>
      <p:sp>
        <p:nvSpPr>
          <p:cNvPr id="25" name="Text 19"/>
          <p:cNvSpPr/>
          <p:nvPr/>
        </p:nvSpPr>
        <p:spPr>
          <a:xfrm>
            <a:off x="9134856" y="4297680"/>
            <a:ext cx="21488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AAB8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Authored and improvised, side by side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624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149840" y="640080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AB8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MCCF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AAB8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40080" y="5029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1EDE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core loop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640080" y="128016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AAB8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Emotional state isn't decoration on top of the scene — it's computed live and drives what you see.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40080" y="2331720"/>
            <a:ext cx="2377440" cy="3200400"/>
          </a:xfrm>
          <a:prstGeom prst="roundRect">
            <a:avLst>
              <a:gd name="adj" fmla="val 4615"/>
            </a:avLst>
          </a:prstGeom>
          <a:solidFill>
            <a:srgbClr val="1F3226"/>
          </a:solidFill>
          <a:ln/>
          <a:effectLst>
            <a:outerShdw sx="100000" sy="100000" kx="0" ky="0" algn="bl" rotWithShape="0" blurRad="101600" dist="38100" dir="5400000">
              <a:srgbClr val="000000">
                <a:alpha val="2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841248" y="251460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3A9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1485900" y="3108960"/>
            <a:ext cx="685800" cy="685800"/>
          </a:xfrm>
          <a:prstGeom prst="ellipse">
            <a:avLst/>
          </a:prstGeom>
          <a:solidFill>
            <a:srgbClr val="3F5A46"/>
          </a:solidFill>
          <a:ln/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75054" y="3198114"/>
            <a:ext cx="507492" cy="507492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804672" y="3977640"/>
            <a:ext cx="204825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1EDE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Agents drift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804672" y="4416552"/>
            <a:ext cx="20482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AB8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character's emotional state (E/B/P/S) evolves through the scene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3017520" y="3657600"/>
            <a:ext cx="2011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E3A9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3" name="Shape 10"/>
          <p:cNvSpPr/>
          <p:nvPr/>
        </p:nvSpPr>
        <p:spPr>
          <a:xfrm>
            <a:off x="3218688" y="2331720"/>
            <a:ext cx="2377440" cy="3200400"/>
          </a:xfrm>
          <a:prstGeom prst="roundRect">
            <a:avLst>
              <a:gd name="adj" fmla="val 4615"/>
            </a:avLst>
          </a:prstGeom>
          <a:solidFill>
            <a:srgbClr val="1F3226"/>
          </a:solidFill>
          <a:ln/>
          <a:effectLst>
            <a:outerShdw sx="100000" sy="100000" kx="0" ky="0" algn="bl" rotWithShape="0" blurRad="101600" dist="38100" dir="5400000">
              <a:srgbClr val="000000">
                <a:alpha val="28000"/>
              </a:srgbClr>
            </a:outerShdw>
          </a:effectLst>
        </p:spPr>
      </p:sp>
      <p:sp>
        <p:nvSpPr>
          <p:cNvPr id="14" name="Text 11"/>
          <p:cNvSpPr/>
          <p:nvPr/>
        </p:nvSpPr>
        <p:spPr>
          <a:xfrm>
            <a:off x="3419856" y="251460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3A9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000" dirty="0"/>
          </a:p>
        </p:txBody>
      </p:sp>
      <p:sp>
        <p:nvSpPr>
          <p:cNvPr id="15" name="Shape 12"/>
          <p:cNvSpPr/>
          <p:nvPr/>
        </p:nvSpPr>
        <p:spPr>
          <a:xfrm>
            <a:off x="4064508" y="3108960"/>
            <a:ext cx="685800" cy="685800"/>
          </a:xfrm>
          <a:prstGeom prst="ellipse">
            <a:avLst/>
          </a:prstGeom>
          <a:solidFill>
            <a:srgbClr val="3F5A46"/>
          </a:solidFill>
          <a:ln/>
        </p:spPr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53662" y="3198114"/>
            <a:ext cx="507492" cy="507492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3383280" y="3977640"/>
            <a:ext cx="204825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1EDE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Zones attract</a:t>
            </a:r>
            <a:endParaRPr lang="en-US" sz="1500" dirty="0"/>
          </a:p>
        </p:txBody>
      </p:sp>
      <p:sp>
        <p:nvSpPr>
          <p:cNvPr id="18" name="Text 14"/>
          <p:cNvSpPr/>
          <p:nvPr/>
        </p:nvSpPr>
        <p:spPr>
          <a:xfrm>
            <a:off x="3383280" y="4416552"/>
            <a:ext cx="20482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AB8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Places pull characters toward moods — reverence, tension, calm</a:t>
            </a:r>
            <a:endParaRPr lang="en-US" sz="1100" dirty="0"/>
          </a:p>
        </p:txBody>
      </p:sp>
      <p:sp>
        <p:nvSpPr>
          <p:cNvPr id="19" name="Text 15"/>
          <p:cNvSpPr/>
          <p:nvPr/>
        </p:nvSpPr>
        <p:spPr>
          <a:xfrm>
            <a:off x="5596128" y="3657600"/>
            <a:ext cx="2011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E3A9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20" name="Shape 16"/>
          <p:cNvSpPr/>
          <p:nvPr/>
        </p:nvSpPr>
        <p:spPr>
          <a:xfrm>
            <a:off x="5797296" y="2331720"/>
            <a:ext cx="2377440" cy="3200400"/>
          </a:xfrm>
          <a:prstGeom prst="roundRect">
            <a:avLst>
              <a:gd name="adj" fmla="val 4615"/>
            </a:avLst>
          </a:prstGeom>
          <a:solidFill>
            <a:srgbClr val="1F3226"/>
          </a:solidFill>
          <a:ln/>
          <a:effectLst>
            <a:outerShdw sx="100000" sy="100000" kx="0" ky="0" algn="bl" rotWithShape="0" blurRad="101600" dist="38100" dir="5400000">
              <a:srgbClr val="000000">
                <a:alpha val="28000"/>
              </a:srgbClr>
            </a:outerShdw>
          </a:effectLst>
        </p:spPr>
      </p:sp>
      <p:sp>
        <p:nvSpPr>
          <p:cNvPr id="21" name="Text 17"/>
          <p:cNvSpPr/>
          <p:nvPr/>
        </p:nvSpPr>
        <p:spPr>
          <a:xfrm>
            <a:off x="5998464" y="251460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3A9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000" dirty="0"/>
          </a:p>
        </p:txBody>
      </p:sp>
      <p:sp>
        <p:nvSpPr>
          <p:cNvPr id="22" name="Shape 18"/>
          <p:cNvSpPr/>
          <p:nvPr/>
        </p:nvSpPr>
        <p:spPr>
          <a:xfrm>
            <a:off x="6643116" y="3108960"/>
            <a:ext cx="685800" cy="685800"/>
          </a:xfrm>
          <a:prstGeom prst="ellipse">
            <a:avLst/>
          </a:prstGeom>
          <a:solidFill>
            <a:srgbClr val="3F5A46"/>
          </a:solidFill>
          <a:ln/>
        </p:spPr>
      </p:sp>
      <p:pic>
        <p:nvPicPr>
          <p:cNvPr id="2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32270" y="3198114"/>
            <a:ext cx="507492" cy="507492"/>
          </a:xfrm>
          <a:prstGeom prst="rect">
            <a:avLst/>
          </a:prstGeom>
        </p:spPr>
      </p:pic>
      <p:sp>
        <p:nvSpPr>
          <p:cNvPr id="24" name="Text 19"/>
          <p:cNvSpPr/>
          <p:nvPr/>
        </p:nvSpPr>
        <p:spPr>
          <a:xfrm>
            <a:off x="5961888" y="3977640"/>
            <a:ext cx="204825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1EDE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Couplers tick</a:t>
            </a:r>
            <a:endParaRPr lang="en-US" sz="1500" dirty="0"/>
          </a:p>
        </p:txBody>
      </p:sp>
      <p:sp>
        <p:nvSpPr>
          <p:cNvPr id="25" name="Text 20"/>
          <p:cNvSpPr/>
          <p:nvPr/>
        </p:nvSpPr>
        <p:spPr>
          <a:xfrm>
            <a:off x="5961888" y="4416552"/>
            <a:ext cx="20482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AB8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 computes coherence, live, every step</a:t>
            </a:r>
            <a:endParaRPr lang="en-US" sz="1100" dirty="0"/>
          </a:p>
        </p:txBody>
      </p:sp>
      <p:sp>
        <p:nvSpPr>
          <p:cNvPr id="26" name="Text 21"/>
          <p:cNvSpPr/>
          <p:nvPr/>
        </p:nvSpPr>
        <p:spPr>
          <a:xfrm>
            <a:off x="8174736" y="3657600"/>
            <a:ext cx="2011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E3A9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27" name="Shape 22"/>
          <p:cNvSpPr/>
          <p:nvPr/>
        </p:nvSpPr>
        <p:spPr>
          <a:xfrm>
            <a:off x="8375904" y="2331720"/>
            <a:ext cx="2377440" cy="3200400"/>
          </a:xfrm>
          <a:prstGeom prst="roundRect">
            <a:avLst>
              <a:gd name="adj" fmla="val 4615"/>
            </a:avLst>
          </a:prstGeom>
          <a:solidFill>
            <a:srgbClr val="1F3226"/>
          </a:solidFill>
          <a:ln/>
          <a:effectLst>
            <a:outerShdw sx="100000" sy="100000" kx="0" ky="0" algn="bl" rotWithShape="0" blurRad="101600" dist="38100" dir="5400000">
              <a:srgbClr val="000000">
                <a:alpha val="28000"/>
              </a:srgbClr>
            </a:outerShdw>
          </a:effectLst>
        </p:spPr>
      </p:sp>
      <p:sp>
        <p:nvSpPr>
          <p:cNvPr id="28" name="Text 23"/>
          <p:cNvSpPr/>
          <p:nvPr/>
        </p:nvSpPr>
        <p:spPr>
          <a:xfrm>
            <a:off x="8577072" y="251460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3A9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000" dirty="0"/>
          </a:p>
        </p:txBody>
      </p:sp>
      <p:sp>
        <p:nvSpPr>
          <p:cNvPr id="29" name="Shape 24"/>
          <p:cNvSpPr/>
          <p:nvPr/>
        </p:nvSpPr>
        <p:spPr>
          <a:xfrm>
            <a:off x="9221724" y="3108960"/>
            <a:ext cx="685800" cy="685800"/>
          </a:xfrm>
          <a:prstGeom prst="ellipse">
            <a:avLst/>
          </a:prstGeom>
          <a:solidFill>
            <a:srgbClr val="3F5A46"/>
          </a:solidFill>
          <a:ln/>
        </p:spPr>
      </p:sp>
      <p:pic>
        <p:nvPicPr>
          <p:cNvPr id="3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10878" y="3198114"/>
            <a:ext cx="507492" cy="507492"/>
          </a:xfrm>
          <a:prstGeom prst="rect">
            <a:avLst/>
          </a:prstGeom>
        </p:spPr>
      </p:pic>
      <p:sp>
        <p:nvSpPr>
          <p:cNvPr id="31" name="Text 25"/>
          <p:cNvSpPr/>
          <p:nvPr/>
        </p:nvSpPr>
        <p:spPr>
          <a:xfrm>
            <a:off x="8540496" y="3977640"/>
            <a:ext cx="204825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1EDE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Scene renders</a:t>
            </a:r>
            <a:endParaRPr lang="en-US" sz="1500" dirty="0"/>
          </a:p>
        </p:txBody>
      </p:sp>
      <p:sp>
        <p:nvSpPr>
          <p:cNvPr id="32" name="Text 26"/>
          <p:cNvSpPr/>
          <p:nvPr/>
        </p:nvSpPr>
        <p:spPr>
          <a:xfrm>
            <a:off x="8540496" y="4416552"/>
            <a:ext cx="20482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AB8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Camera, light, and dialog respond to what's already true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624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149840" y="640080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AB8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MCCF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AAB8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40080" y="502920"/>
            <a:ext cx="9144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1EDE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Cinematography, not fixed cameras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640080" y="1280160"/>
            <a:ext cx="8686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AAB8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Camera moves that follow story beats — triggered by waypoints, zones, and dialogue, not hand-placed shot by shot.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40080" y="2194560"/>
            <a:ext cx="1188720" cy="1188720"/>
          </a:xfrm>
          <a:prstGeom prst="ellipse">
            <a:avLst/>
          </a:prstGeom>
          <a:solidFill>
            <a:srgbClr val="3F5A46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4614" y="2349094"/>
            <a:ext cx="879653" cy="879653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2286000" y="2240280"/>
            <a:ext cx="3566160" cy="438912"/>
          </a:xfrm>
          <a:prstGeom prst="roundRect">
            <a:avLst>
              <a:gd name="adj" fmla="val 16667"/>
            </a:avLst>
          </a:prstGeom>
          <a:solidFill>
            <a:srgbClr val="1F3226"/>
          </a:solidFill>
          <a:ln/>
        </p:spPr>
      </p:sp>
      <p:sp>
        <p:nvSpPr>
          <p:cNvPr id="9" name="Text 6"/>
          <p:cNvSpPr/>
          <p:nvPr/>
        </p:nvSpPr>
        <p:spPr>
          <a:xfrm>
            <a:off x="2514600" y="2240280"/>
            <a:ext cx="3108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1ED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dolly in / out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6309360" y="2240280"/>
            <a:ext cx="3566160" cy="438912"/>
          </a:xfrm>
          <a:prstGeom prst="roundRect">
            <a:avLst>
              <a:gd name="adj" fmla="val 16667"/>
            </a:avLst>
          </a:prstGeom>
          <a:solidFill>
            <a:srgbClr val="1F3226"/>
          </a:solidFill>
          <a:ln/>
        </p:spPr>
      </p:sp>
      <p:sp>
        <p:nvSpPr>
          <p:cNvPr id="11" name="Text 8"/>
          <p:cNvSpPr/>
          <p:nvPr/>
        </p:nvSpPr>
        <p:spPr>
          <a:xfrm>
            <a:off x="6537960" y="2240280"/>
            <a:ext cx="3108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1ED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2286000" y="2807208"/>
            <a:ext cx="3566160" cy="438912"/>
          </a:xfrm>
          <a:prstGeom prst="roundRect">
            <a:avLst>
              <a:gd name="adj" fmla="val 16667"/>
            </a:avLst>
          </a:prstGeom>
          <a:solidFill>
            <a:srgbClr val="1F3226"/>
          </a:solidFill>
          <a:ln/>
        </p:spPr>
      </p:sp>
      <p:sp>
        <p:nvSpPr>
          <p:cNvPr id="13" name="Text 10"/>
          <p:cNvSpPr/>
          <p:nvPr/>
        </p:nvSpPr>
        <p:spPr>
          <a:xfrm>
            <a:off x="2514600" y="2807208"/>
            <a:ext cx="3108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1ED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tilt</a:t>
            </a:r>
            <a:endParaRPr lang="en-US" sz="1400" dirty="0"/>
          </a:p>
        </p:txBody>
      </p:sp>
      <p:sp>
        <p:nvSpPr>
          <p:cNvPr id="14" name="Shape 11"/>
          <p:cNvSpPr/>
          <p:nvPr/>
        </p:nvSpPr>
        <p:spPr>
          <a:xfrm>
            <a:off x="6309360" y="2807208"/>
            <a:ext cx="3566160" cy="438912"/>
          </a:xfrm>
          <a:prstGeom prst="roundRect">
            <a:avLst>
              <a:gd name="adj" fmla="val 16667"/>
            </a:avLst>
          </a:prstGeom>
          <a:solidFill>
            <a:srgbClr val="1F3226"/>
          </a:solidFill>
          <a:ln/>
        </p:spPr>
      </p:sp>
      <p:sp>
        <p:nvSpPr>
          <p:cNvPr id="15" name="Text 12"/>
          <p:cNvSpPr/>
          <p:nvPr/>
        </p:nvSpPr>
        <p:spPr>
          <a:xfrm>
            <a:off x="6537960" y="2807208"/>
            <a:ext cx="3108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1ED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crane up</a:t>
            </a:r>
            <a:endParaRPr lang="en-US" sz="1400" dirty="0"/>
          </a:p>
        </p:txBody>
      </p:sp>
      <p:sp>
        <p:nvSpPr>
          <p:cNvPr id="16" name="Shape 13"/>
          <p:cNvSpPr/>
          <p:nvPr/>
        </p:nvSpPr>
        <p:spPr>
          <a:xfrm>
            <a:off x="2286000" y="3374136"/>
            <a:ext cx="3566160" cy="438912"/>
          </a:xfrm>
          <a:prstGeom prst="roundRect">
            <a:avLst>
              <a:gd name="adj" fmla="val 16667"/>
            </a:avLst>
          </a:prstGeom>
          <a:solidFill>
            <a:srgbClr val="1F3226"/>
          </a:solidFill>
          <a:ln/>
        </p:spPr>
      </p:sp>
      <p:sp>
        <p:nvSpPr>
          <p:cNvPr id="17" name="Text 14"/>
          <p:cNvSpPr/>
          <p:nvPr/>
        </p:nvSpPr>
        <p:spPr>
          <a:xfrm>
            <a:off x="2514600" y="3374136"/>
            <a:ext cx="3108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1ED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orbit</a:t>
            </a:r>
            <a:endParaRPr lang="en-US" sz="1400" dirty="0"/>
          </a:p>
        </p:txBody>
      </p:sp>
      <p:sp>
        <p:nvSpPr>
          <p:cNvPr id="18" name="Shape 15"/>
          <p:cNvSpPr/>
          <p:nvPr/>
        </p:nvSpPr>
        <p:spPr>
          <a:xfrm>
            <a:off x="6309360" y="3374136"/>
            <a:ext cx="3566160" cy="438912"/>
          </a:xfrm>
          <a:prstGeom prst="roundRect">
            <a:avLst>
              <a:gd name="adj" fmla="val 16667"/>
            </a:avLst>
          </a:prstGeom>
          <a:solidFill>
            <a:srgbClr val="1F3226"/>
          </a:solidFill>
          <a:ln/>
        </p:spPr>
      </p:sp>
      <p:sp>
        <p:nvSpPr>
          <p:cNvPr id="19" name="Text 16"/>
          <p:cNvSpPr/>
          <p:nvPr/>
        </p:nvSpPr>
        <p:spPr>
          <a:xfrm>
            <a:off x="6537960" y="3374136"/>
            <a:ext cx="3108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1ED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track (parented)</a:t>
            </a:r>
            <a:endParaRPr lang="en-US" sz="1400" dirty="0"/>
          </a:p>
        </p:txBody>
      </p:sp>
      <p:sp>
        <p:nvSpPr>
          <p:cNvPr id="20" name="Text 17"/>
          <p:cNvSpPr/>
          <p:nvPr/>
        </p:nvSpPr>
        <p:spPr>
          <a:xfrm>
            <a:off x="640080" y="59893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E3A9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shot type is a tested, working move — not a mockup.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624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149840" y="640080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AB8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MCCF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AAB8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40080" y="502920"/>
            <a:ext cx="9601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1EDE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Protos: the Lego-block architecture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640080" y="1463040"/>
            <a:ext cx="5212080" cy="4617720"/>
          </a:xfrm>
          <a:prstGeom prst="roundRect">
            <a:avLst>
              <a:gd name="adj" fmla="val 2376"/>
            </a:avLst>
          </a:prstGeom>
          <a:solidFill>
            <a:srgbClr val="1F3226"/>
          </a:solidFill>
          <a:ln/>
          <a:effectLst>
            <a:outerShdw sx="100000" sy="100000" kx="0" ky="0" algn="bl" rotWithShape="0" blurRad="101600" dist="38100" dir="5400000">
              <a:srgbClr val="000000">
                <a:alpha val="2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60120" y="1783080"/>
            <a:ext cx="777240" cy="777240"/>
          </a:xfrm>
          <a:prstGeom prst="ellipse">
            <a:avLst/>
          </a:prstGeom>
          <a:solidFill>
            <a:srgbClr val="3F5A46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1161" y="1884121"/>
            <a:ext cx="575158" cy="57515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874520" y="1874520"/>
            <a:ext cx="3749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1EDE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Composable, by design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914400" y="2788920"/>
            <a:ext cx="461772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AAB8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camera, light, and character is a reusable class with a clean interface</a:t>
            </a:r>
            <a:endParaRPr lang="en-US" sz="135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AAB8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definition, placed everywhere it's needed — fix it once, every instance improves</a:t>
            </a:r>
            <a:endParaRPr lang="en-US" sz="1350" dirty="0"/>
          </a:p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350" dirty="0">
                <a:solidFill>
                  <a:srgbClr val="AAB8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Tested directly: instances are fully isolated from each other, confirmed by experiment</a:t>
            </a:r>
            <a:endParaRPr lang="en-US" sz="1350" dirty="0"/>
          </a:p>
        </p:txBody>
      </p:sp>
      <p:sp>
        <p:nvSpPr>
          <p:cNvPr id="10" name="Shape 7"/>
          <p:cNvSpPr/>
          <p:nvPr/>
        </p:nvSpPr>
        <p:spPr>
          <a:xfrm>
            <a:off x="6080760" y="1463040"/>
            <a:ext cx="5440680" cy="4617720"/>
          </a:xfrm>
          <a:prstGeom prst="roundRect">
            <a:avLst>
              <a:gd name="adj" fmla="val 2376"/>
            </a:avLst>
          </a:prstGeom>
          <a:solidFill>
            <a:srgbClr val="1F3226"/>
          </a:solidFill>
          <a:ln/>
          <a:effectLst>
            <a:outerShdw sx="100000" sy="100000" kx="0" ky="0" algn="bl" rotWithShape="0" blurRad="101600" dist="38100" dir="5400000">
              <a:srgbClr val="000000">
                <a:alpha val="28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6400800" y="1783080"/>
            <a:ext cx="777240" cy="777240"/>
          </a:xfrm>
          <a:prstGeom prst="ellipse">
            <a:avLst/>
          </a:prstGeom>
          <a:solidFill>
            <a:srgbClr val="3F5A46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01841" y="1884121"/>
            <a:ext cx="575158" cy="57515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7315200" y="1874520"/>
            <a:ext cx="4023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1EDE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geometry meets meaning</a:t>
            </a:r>
            <a:endParaRPr lang="en-US" sz="1800" dirty="0"/>
          </a:p>
        </p:txBody>
      </p:sp>
      <p:sp>
        <p:nvSpPr>
          <p:cNvPr id="14" name="Shape 10"/>
          <p:cNvSpPr/>
          <p:nvPr/>
        </p:nvSpPr>
        <p:spPr>
          <a:xfrm>
            <a:off x="6400800" y="2880360"/>
            <a:ext cx="4846320" cy="594360"/>
          </a:xfrm>
          <a:prstGeom prst="roundRect">
            <a:avLst>
              <a:gd name="adj" fmla="val 12308"/>
            </a:avLst>
          </a:prstGeom>
          <a:solidFill>
            <a:srgbClr val="3F5A46"/>
          </a:solidFill>
          <a:ln/>
        </p:spPr>
      </p:sp>
      <p:sp>
        <p:nvSpPr>
          <p:cNvPr id="15" name="Text 11"/>
          <p:cNvSpPr/>
          <p:nvPr/>
        </p:nvSpPr>
        <p:spPr>
          <a:xfrm>
            <a:off x="6629400" y="2880360"/>
            <a:ext cx="4389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1ED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 computes emotional state</a:t>
            </a:r>
            <a:endParaRPr lang="en-US" sz="1350" dirty="0"/>
          </a:p>
        </p:txBody>
      </p:sp>
      <p:sp>
        <p:nvSpPr>
          <p:cNvPr id="16" name="Text 12"/>
          <p:cNvSpPr/>
          <p:nvPr/>
        </p:nvSpPr>
        <p:spPr>
          <a:xfrm>
            <a:off x="8686800" y="3474720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E3A9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600" dirty="0"/>
          </a:p>
        </p:txBody>
      </p:sp>
      <p:sp>
        <p:nvSpPr>
          <p:cNvPr id="17" name="Shape 13"/>
          <p:cNvSpPr/>
          <p:nvPr/>
        </p:nvSpPr>
        <p:spPr>
          <a:xfrm>
            <a:off x="6400800" y="3749040"/>
            <a:ext cx="4846320" cy="594360"/>
          </a:xfrm>
          <a:prstGeom prst="roundRect">
            <a:avLst>
              <a:gd name="adj" fmla="val 12308"/>
            </a:avLst>
          </a:prstGeom>
          <a:solidFill>
            <a:srgbClr val="3F5A46"/>
          </a:solidFill>
          <a:ln/>
        </p:spPr>
      </p:sp>
      <p:sp>
        <p:nvSpPr>
          <p:cNvPr id="18" name="Text 14"/>
          <p:cNvSpPr/>
          <p:nvPr/>
        </p:nvSpPr>
        <p:spPr>
          <a:xfrm>
            <a:off x="6629400" y="3749040"/>
            <a:ext cx="4389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1ED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 interface exposes it</a:t>
            </a:r>
            <a:endParaRPr lang="en-US" sz="1350" dirty="0"/>
          </a:p>
        </p:txBody>
      </p:sp>
      <p:sp>
        <p:nvSpPr>
          <p:cNvPr id="19" name="Text 15"/>
          <p:cNvSpPr/>
          <p:nvPr/>
        </p:nvSpPr>
        <p:spPr>
          <a:xfrm>
            <a:off x="8686800" y="4343400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E3A9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600" dirty="0"/>
          </a:p>
        </p:txBody>
      </p:sp>
      <p:sp>
        <p:nvSpPr>
          <p:cNvPr id="20" name="Shape 16"/>
          <p:cNvSpPr/>
          <p:nvPr/>
        </p:nvSpPr>
        <p:spPr>
          <a:xfrm>
            <a:off x="6400800" y="4617720"/>
            <a:ext cx="4846320" cy="594360"/>
          </a:xfrm>
          <a:prstGeom prst="roundRect">
            <a:avLst>
              <a:gd name="adj" fmla="val 12308"/>
            </a:avLst>
          </a:prstGeom>
          <a:solidFill>
            <a:srgbClr val="3F5A46"/>
          </a:solidFill>
          <a:ln/>
        </p:spPr>
      </p:sp>
      <p:sp>
        <p:nvSpPr>
          <p:cNvPr id="21" name="Text 17"/>
          <p:cNvSpPr/>
          <p:nvPr/>
        </p:nvSpPr>
        <p:spPr>
          <a:xfrm>
            <a:off x="6629400" y="4617720"/>
            <a:ext cx="4389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1ED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Scene renders it, live</a:t>
            </a:r>
            <a:endParaRPr lang="en-US" sz="1350" dirty="0"/>
          </a:p>
        </p:txBody>
      </p:sp>
      <p:sp>
        <p:nvSpPr>
          <p:cNvPr id="22" name="Text 18"/>
          <p:cNvSpPr/>
          <p:nvPr/>
        </p:nvSpPr>
        <p:spPr>
          <a:xfrm>
            <a:off x="6400800" y="553212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E3A9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render layer never computes semantics — it only ever reads them.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624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149840" y="640080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AB8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MCCF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AAB8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40080" y="502920"/>
            <a:ext cx="9601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1EDE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Emotional continuity across scenes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640080" y="1280160"/>
            <a:ext cx="8961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AAB8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character's emotional state is a real, carried value — not reset to default every time a scene loads.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822960" y="2331720"/>
            <a:ext cx="1965960" cy="1965960"/>
          </a:xfrm>
          <a:prstGeom prst="roundRect">
            <a:avLst>
              <a:gd name="adj" fmla="val 5581"/>
            </a:avLst>
          </a:prstGeom>
          <a:solidFill>
            <a:srgbClr val="1F3226"/>
          </a:solidFill>
          <a:ln/>
          <a:effectLst>
            <a:outerShdw sx="100000" sy="100000" kx="0" ky="0" algn="bl" rotWithShape="0" blurRad="101600" dist="38100" dir="5400000">
              <a:srgbClr val="000000">
                <a:alpha val="2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822960" y="2496312"/>
            <a:ext cx="19659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E3A9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</a:t>
            </a:r>
            <a:endParaRPr lang="en-US" sz="5200" dirty="0"/>
          </a:p>
        </p:txBody>
      </p:sp>
      <p:sp>
        <p:nvSpPr>
          <p:cNvPr id="8" name="Text 6"/>
          <p:cNvSpPr/>
          <p:nvPr/>
        </p:nvSpPr>
        <p:spPr>
          <a:xfrm>
            <a:off x="822960" y="3749040"/>
            <a:ext cx="1965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1ED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Emotional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017520" y="2331720"/>
            <a:ext cx="1965960" cy="1965960"/>
          </a:xfrm>
          <a:prstGeom prst="roundRect">
            <a:avLst>
              <a:gd name="adj" fmla="val 5581"/>
            </a:avLst>
          </a:prstGeom>
          <a:solidFill>
            <a:srgbClr val="1F3226"/>
          </a:solidFill>
          <a:ln/>
          <a:effectLst>
            <a:outerShdw sx="100000" sy="100000" kx="0" ky="0" algn="bl" rotWithShape="0" blurRad="101600" dist="38100" dir="5400000">
              <a:srgbClr val="000000">
                <a:alpha val="2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017520" y="2496312"/>
            <a:ext cx="19659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E3A9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</a:t>
            </a:r>
            <a:endParaRPr lang="en-US" sz="5200" dirty="0"/>
          </a:p>
        </p:txBody>
      </p:sp>
      <p:sp>
        <p:nvSpPr>
          <p:cNvPr id="11" name="Text 9"/>
          <p:cNvSpPr/>
          <p:nvPr/>
        </p:nvSpPr>
        <p:spPr>
          <a:xfrm>
            <a:off x="3017520" y="3749040"/>
            <a:ext cx="1965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1ED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Behavioral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212080" y="2331720"/>
            <a:ext cx="1965960" cy="1965960"/>
          </a:xfrm>
          <a:prstGeom prst="roundRect">
            <a:avLst>
              <a:gd name="adj" fmla="val 5581"/>
            </a:avLst>
          </a:prstGeom>
          <a:solidFill>
            <a:srgbClr val="1F3226"/>
          </a:solidFill>
          <a:ln/>
          <a:effectLst>
            <a:outerShdw sx="100000" sy="100000" kx="0" ky="0" algn="bl" rotWithShape="0" blurRad="101600" dist="38100" dir="5400000">
              <a:srgbClr val="000000">
                <a:alpha val="2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5212080" y="2496312"/>
            <a:ext cx="19659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E3A9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</a:t>
            </a:r>
            <a:endParaRPr lang="en-US" sz="5200" dirty="0"/>
          </a:p>
        </p:txBody>
      </p:sp>
      <p:sp>
        <p:nvSpPr>
          <p:cNvPr id="14" name="Text 12"/>
          <p:cNvSpPr/>
          <p:nvPr/>
        </p:nvSpPr>
        <p:spPr>
          <a:xfrm>
            <a:off x="5212080" y="3749040"/>
            <a:ext cx="1965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1ED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Predictive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7406640" y="2331720"/>
            <a:ext cx="1965960" cy="1965960"/>
          </a:xfrm>
          <a:prstGeom prst="roundRect">
            <a:avLst>
              <a:gd name="adj" fmla="val 5581"/>
            </a:avLst>
          </a:prstGeom>
          <a:solidFill>
            <a:srgbClr val="1F3226"/>
          </a:solidFill>
          <a:ln/>
          <a:effectLst>
            <a:outerShdw sx="100000" sy="100000" kx="0" ky="0" algn="bl" rotWithShape="0" blurRad="101600" dist="38100" dir="5400000">
              <a:srgbClr val="000000">
                <a:alpha val="2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7406640" y="2496312"/>
            <a:ext cx="19659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E3A9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</a:t>
            </a:r>
            <a:endParaRPr lang="en-US" sz="5200" dirty="0"/>
          </a:p>
        </p:txBody>
      </p:sp>
      <p:sp>
        <p:nvSpPr>
          <p:cNvPr id="17" name="Text 15"/>
          <p:cNvSpPr/>
          <p:nvPr/>
        </p:nvSpPr>
        <p:spPr>
          <a:xfrm>
            <a:off x="7406640" y="3749040"/>
            <a:ext cx="1965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1ED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Social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822960" y="4617720"/>
            <a:ext cx="10515600" cy="1417320"/>
          </a:xfrm>
          <a:prstGeom prst="roundRect">
            <a:avLst>
              <a:gd name="adj" fmla="val 7742"/>
            </a:avLst>
          </a:prstGeom>
          <a:solidFill>
            <a:srgbClr val="1F3226"/>
          </a:solidFill>
          <a:ln/>
          <a:effectLst>
            <a:outerShdw sx="100000" sy="100000" kx="0" ky="0" algn="bl" rotWithShape="0" blurRad="101600" dist="38100" dir="5400000">
              <a:srgbClr val="000000">
                <a:alpha val="2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1143000" y="4617720"/>
            <a:ext cx="987552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F1ED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four numbers, everywhere affect shows up — a live agent's drift and an authored line's interpreted emotion are the same kind of data. One dashboard, comparable, queryable.</a:t>
            </a:r>
            <a:endParaRPr lang="en-US" sz="15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624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149840" y="640080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AB8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MCCF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AAB8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40080" y="502920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1EDE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Dialog: authored and improvised, side by side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822960" y="1600200"/>
            <a:ext cx="5212080" cy="4389120"/>
          </a:xfrm>
          <a:prstGeom prst="roundRect">
            <a:avLst>
              <a:gd name="adj" fmla="val 2500"/>
            </a:avLst>
          </a:prstGeom>
          <a:solidFill>
            <a:srgbClr val="1F3226"/>
          </a:solidFill>
          <a:ln/>
          <a:effectLst>
            <a:outerShdw sx="100000" sy="100000" kx="0" ky="0" algn="bl" rotWithShape="0" blurRad="101600" dist="38100" dir="5400000">
              <a:srgbClr val="000000">
                <a:alpha val="2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143000" y="1920240"/>
            <a:ext cx="777240" cy="777240"/>
          </a:xfrm>
          <a:prstGeom prst="ellipse">
            <a:avLst/>
          </a:prstGeom>
          <a:solidFill>
            <a:srgbClr val="3F5A46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44041" y="2021281"/>
            <a:ext cx="575158" cy="57515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2103120" y="1965960"/>
            <a:ext cx="3657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1EDE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Authored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1188720" y="2971800"/>
            <a:ext cx="448056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20000"/>
              </a:lnSpc>
              <a:spcAft>
                <a:spcPts val="1400"/>
              </a:spcAft>
              <a:buSzPct val="100000"/>
              <a:buChar char="•"/>
            </a:pPr>
            <a:r>
              <a:rPr lang="en-US" sz="1450" dirty="0">
                <a:solidFill>
                  <a:srgbClr val="AAB8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Text, tagged for emotion in one batch pass</a:t>
            </a:r>
            <a:endParaRPr lang="en-US" sz="1450" dirty="0"/>
          </a:p>
          <a:p>
            <a:pPr marL="342900" indent="-342900">
              <a:lnSpc>
                <a:spcPct val="120000"/>
              </a:lnSpc>
              <a:spcAft>
                <a:spcPts val="1400"/>
              </a:spcAft>
              <a:buSzPct val="100000"/>
              <a:buChar char="•"/>
            </a:pPr>
            <a:r>
              <a:rPr lang="en-US" sz="1450" dirty="0">
                <a:solidFill>
                  <a:srgbClr val="AAB8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 to a voice engine, real audio comes back</a:t>
            </a:r>
            <a:endParaRPr lang="en-US" sz="1450" dirty="0"/>
          </a:p>
          <a:p>
            <a:pPr marL="342900" indent="-342900">
              <a:lnSpc>
                <a:spcPct val="120000"/>
              </a:lnSpc>
              <a:spcAft>
                <a:spcPts val="1400"/>
              </a:spcAft>
              <a:buSzPct val="100000"/>
              <a:buChar char="•"/>
            </a:pPr>
            <a:r>
              <a:rPr lang="en-US" sz="1450" dirty="0">
                <a:solidFill>
                  <a:srgbClr val="AAB8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Swappable — re-record without breaking the scene</a:t>
            </a:r>
            <a:endParaRPr lang="en-US" sz="1450" dirty="0"/>
          </a:p>
        </p:txBody>
      </p:sp>
      <p:sp>
        <p:nvSpPr>
          <p:cNvPr id="10" name="Shape 7"/>
          <p:cNvSpPr/>
          <p:nvPr/>
        </p:nvSpPr>
        <p:spPr>
          <a:xfrm>
            <a:off x="6400800" y="1600200"/>
            <a:ext cx="5212080" cy="4389120"/>
          </a:xfrm>
          <a:prstGeom prst="roundRect">
            <a:avLst>
              <a:gd name="adj" fmla="val 2500"/>
            </a:avLst>
          </a:prstGeom>
          <a:solidFill>
            <a:srgbClr val="1F3226"/>
          </a:solidFill>
          <a:ln/>
          <a:effectLst>
            <a:outerShdw sx="100000" sy="100000" kx="0" ky="0" algn="bl" rotWithShape="0" blurRad="101600" dist="38100" dir="5400000">
              <a:srgbClr val="000000">
                <a:alpha val="28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6720840" y="1920240"/>
            <a:ext cx="777240" cy="777240"/>
          </a:xfrm>
          <a:prstGeom prst="ellipse">
            <a:avLst/>
          </a:prstGeom>
          <a:solidFill>
            <a:srgbClr val="3F5A46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21881" y="2021281"/>
            <a:ext cx="575158" cy="57515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7680960" y="1965960"/>
            <a:ext cx="3657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1EDE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Improvised</a:t>
            </a:r>
            <a:endParaRPr lang="en-US" sz="2200" dirty="0"/>
          </a:p>
        </p:txBody>
      </p:sp>
      <p:sp>
        <p:nvSpPr>
          <p:cNvPr id="14" name="Text 10"/>
          <p:cNvSpPr/>
          <p:nvPr/>
        </p:nvSpPr>
        <p:spPr>
          <a:xfrm>
            <a:off x="6766560" y="2971800"/>
            <a:ext cx="448056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20000"/>
              </a:lnSpc>
              <a:spcAft>
                <a:spcPts val="1400"/>
              </a:spcAft>
              <a:buSzPct val="100000"/>
              <a:buChar char="•"/>
            </a:pPr>
            <a:r>
              <a:rPr lang="en-US" sz="1450" dirty="0">
                <a:solidFill>
                  <a:srgbClr val="AAB8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Generated live, in the moment</a:t>
            </a:r>
            <a:endParaRPr lang="en-US" sz="1450" dirty="0"/>
          </a:p>
          <a:p>
            <a:pPr marL="342900" indent="-342900">
              <a:lnSpc>
                <a:spcPct val="120000"/>
              </a:lnSpc>
              <a:spcAft>
                <a:spcPts val="1400"/>
              </a:spcAft>
              <a:buSzPct val="100000"/>
              <a:buChar char="•"/>
            </a:pPr>
            <a:r>
              <a:rPr lang="en-US" sz="1450" dirty="0">
                <a:solidFill>
                  <a:srgbClr val="AAB8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 spoken via text-to-speech</a:t>
            </a:r>
            <a:endParaRPr lang="en-US" sz="1450" dirty="0"/>
          </a:p>
          <a:p>
            <a:pPr marL="342900" indent="-342900">
              <a:lnSpc>
                <a:spcPct val="120000"/>
              </a:lnSpc>
              <a:spcAft>
                <a:spcPts val="1400"/>
              </a:spcAft>
              <a:buSzPct val="100000"/>
              <a:buChar char="•"/>
            </a:pPr>
            <a:r>
              <a:rPr lang="en-US" sz="1450" dirty="0">
                <a:solidFill>
                  <a:srgbClr val="AAB8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pre-recorded, by definition</a:t>
            </a:r>
            <a:endParaRPr lang="en-US" sz="1450" dirty="0"/>
          </a:p>
        </p:txBody>
      </p:sp>
      <p:sp>
        <p:nvSpPr>
          <p:cNvPr id="15" name="Text 11"/>
          <p:cNvSpPr/>
          <p:nvPr/>
        </p:nvSpPr>
        <p:spPr>
          <a:xfrm>
            <a:off x="822960" y="6172200"/>
            <a:ext cx="10241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E3A9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line, one default: text-to-speech, unless real audio is attached. Nothing has to be finished to be heard.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624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149840" y="640080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AB8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MCCF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AAB8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40080" y="5029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1EDE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Built to stay maintainable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640080" y="12801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AAB8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gets real attention, not just features — recent example, verified line by line.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40080" y="2468880"/>
            <a:ext cx="3429000" cy="2377440"/>
          </a:xfrm>
          <a:prstGeom prst="roundRect">
            <a:avLst>
              <a:gd name="adj" fmla="val 4615"/>
            </a:avLst>
          </a:prstGeom>
          <a:solidFill>
            <a:srgbClr val="1F3226"/>
          </a:solidFill>
          <a:ln/>
          <a:effectLst>
            <a:outerShdw sx="100000" sy="100000" kx="0" ky="0" algn="bl" rotWithShape="0" blurRad="101600" dist="38100" dir="5400000">
              <a:srgbClr val="000000">
                <a:alpha val="2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868680" y="2743200"/>
            <a:ext cx="2971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E3A9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6,101 → 2,776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914400" y="3749040"/>
            <a:ext cx="2880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AAB8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lines in the main server file, after extraction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343400" y="2468880"/>
            <a:ext cx="3429000" cy="2377440"/>
          </a:xfrm>
          <a:prstGeom prst="roundRect">
            <a:avLst>
              <a:gd name="adj" fmla="val 4615"/>
            </a:avLst>
          </a:prstGeom>
          <a:solidFill>
            <a:srgbClr val="1F3226"/>
          </a:solidFill>
          <a:ln/>
          <a:effectLst>
            <a:outerShdw sx="100000" sy="100000" kx="0" ky="0" algn="bl" rotWithShape="0" blurRad="101600" dist="38100" dir="5400000">
              <a:srgbClr val="000000">
                <a:alpha val="2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572000" y="2743200"/>
            <a:ext cx="2971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E3A9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55 / 55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4617720" y="3749040"/>
            <a:ext cx="2880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AAB8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routes conserved — zero lost, zero duplicated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8046720" y="2468880"/>
            <a:ext cx="3429000" cy="2377440"/>
          </a:xfrm>
          <a:prstGeom prst="roundRect">
            <a:avLst>
              <a:gd name="adj" fmla="val 4615"/>
            </a:avLst>
          </a:prstGeom>
          <a:solidFill>
            <a:srgbClr val="1F3226"/>
          </a:solidFill>
          <a:ln/>
          <a:effectLst>
            <a:outerShdw sx="100000" sy="100000" kx="0" ky="0" algn="bl" rotWithShape="0" blurRad="101600" dist="38100" dir="5400000">
              <a:srgbClr val="000000">
                <a:alpha val="2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8275320" y="2743200"/>
            <a:ext cx="2971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E3A9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8321040" y="3749040"/>
            <a:ext cx="2880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AAB8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dependency on live app state in the extracted module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40080" y="5257800"/>
            <a:ext cx="640080" cy="640080"/>
          </a:xfrm>
          <a:prstGeom prst="ellipse">
            <a:avLst/>
          </a:prstGeom>
          <a:solidFill>
            <a:srgbClr val="3F5A46"/>
          </a:solidFill>
          <a:ln/>
        </p:spPr>
      </p:sp>
      <p:pic>
        <p:nvPicPr>
          <p:cNvPr id="1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3290" y="5341010"/>
            <a:ext cx="473659" cy="473659"/>
          </a:xfrm>
          <a:prstGeom prst="rect">
            <a:avLst/>
          </a:prstGeom>
        </p:spPr>
      </p:pic>
      <p:sp>
        <p:nvSpPr>
          <p:cNvPr id="17" name="Text 14"/>
          <p:cNvSpPr/>
          <p:nvPr/>
        </p:nvSpPr>
        <p:spPr>
          <a:xfrm>
            <a:off x="1463040" y="525780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F1ED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Checked, not assumed — every claim on this slide was verified by diff before shipping.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624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577840" y="1188720"/>
            <a:ext cx="1005840" cy="1005840"/>
          </a:xfrm>
          <a:prstGeom prst="ellipse">
            <a:avLst/>
          </a:prstGeom>
          <a:solidFill>
            <a:srgbClr val="3F5A46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08599" y="1319479"/>
            <a:ext cx="744322" cy="74432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463040" y="2560320"/>
            <a:ext cx="92354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2600" i="1" dirty="0">
                <a:solidFill>
                  <a:srgbClr val="F1EDE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“A society of minds in a real-time 3D system is not a myth. It’s a model of agent and node communications — tuned to produce coherence.”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1463040" y="5120640"/>
            <a:ext cx="9235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E3A9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That's the ingredient the whole system is built to protect.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10149840" y="640080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AB8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MCCF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457200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AAB8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624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149840" y="640080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AB8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MCCF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AAB8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40080" y="50292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1EDE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What's next</a:t>
            </a:r>
            <a:endParaRPr lang="en-US" sz="34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1618488"/>
            <a:ext cx="292608" cy="29260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143000" y="160020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1ED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Declared timeline triggers, synced to a music waveform</a:t>
            </a:r>
            <a:endParaRPr lang="en-US" sz="1600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2212848"/>
            <a:ext cx="292608" cy="292608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143000" y="219456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1ED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Dialog track — text and audio, aligned and swappable</a:t>
            </a:r>
            <a:endParaRPr lang="en-US" sz="160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2807208"/>
            <a:ext cx="292608" cy="292608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1143000" y="278892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1ED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Zone and avatar protos, completing the class library</a:t>
            </a:r>
            <a:endParaRPr lang="en-US" sz="1600" dirty="0"/>
          </a:p>
        </p:txBody>
      </p:sp>
      <p:sp>
        <p:nvSpPr>
          <p:cNvPr id="11" name="Shape 6"/>
          <p:cNvSpPr/>
          <p:nvPr/>
        </p:nvSpPr>
        <p:spPr>
          <a:xfrm>
            <a:off x="640080" y="3931920"/>
            <a:ext cx="10881360" cy="2148840"/>
          </a:xfrm>
          <a:prstGeom prst="roundRect">
            <a:avLst>
              <a:gd name="adj" fmla="val 5957"/>
            </a:avLst>
          </a:prstGeom>
          <a:solidFill>
            <a:srgbClr val="1F3226"/>
          </a:solidFill>
          <a:ln/>
          <a:effectLst>
            <a:outerShdw sx="100000" sy="100000" kx="0" ky="0" algn="bl" rotWithShape="0" blurRad="101600" dist="38100" dir="5400000">
              <a:srgbClr val="000000">
                <a:alpha val="28000"/>
              </a:srgbClr>
            </a:outerShdw>
          </a:effectLst>
        </p:spPr>
      </p:sp>
      <p:sp>
        <p:nvSpPr>
          <p:cNvPr id="12" name="Shape 7"/>
          <p:cNvSpPr/>
          <p:nvPr/>
        </p:nvSpPr>
        <p:spPr>
          <a:xfrm>
            <a:off x="1005840" y="4297680"/>
            <a:ext cx="914400" cy="914400"/>
          </a:xfrm>
          <a:prstGeom prst="ellipse">
            <a:avLst/>
          </a:prstGeom>
          <a:solidFill>
            <a:srgbClr val="3F5A46"/>
          </a:solidFill>
          <a:ln/>
        </p:spPr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24712" y="4416552"/>
            <a:ext cx="676656" cy="676656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2194560" y="4297680"/>
            <a:ext cx="8869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1EDE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Let's take a look.</a:t>
            </a:r>
            <a:endParaRPr lang="en-US" sz="3000" dirty="0"/>
          </a:p>
        </p:txBody>
      </p:sp>
      <p:sp>
        <p:nvSpPr>
          <p:cNvPr id="15" name="Text 9"/>
          <p:cNvSpPr/>
          <p:nvPr/>
        </p:nvSpPr>
        <p:spPr>
          <a:xfrm>
            <a:off x="2194560" y="5166360"/>
            <a:ext cx="8869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E3A9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demo follows.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MCCF — Real-Time 3D Storytelling</dc:title>
  <dc:subject>PptxGenJS Presentation</dc:subject>
  <dc:creator>MCCF</dc:creator>
  <cp:lastModifiedBy>MCCF</cp:lastModifiedBy>
  <cp:revision>1</cp:revision>
  <dcterms:created xsi:type="dcterms:W3CDTF">2026-07-02T00:13:03Z</dcterms:created>
  <dcterms:modified xsi:type="dcterms:W3CDTF">2026-07-02T00:13:03Z</dcterms:modified>
</cp:coreProperties>
</file>